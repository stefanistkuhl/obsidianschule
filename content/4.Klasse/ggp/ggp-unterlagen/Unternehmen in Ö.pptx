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8" r:id="rId2"/>
    <p:sldId id="319" r:id="rId3"/>
    <p:sldId id="260" r:id="rId4"/>
    <p:sldId id="320" r:id="rId5"/>
    <p:sldId id="334" r:id="rId6"/>
    <p:sldId id="261" r:id="rId7"/>
    <p:sldId id="329" r:id="rId8"/>
    <p:sldId id="326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B4515-A8FA-4FB4-9209-93C192FE3EC0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574C3-F2B6-4FF6-8118-D5BE63440BB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45086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9153-0F9F-4914-AD51-7B62A0762B4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385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B4A9F-BEAB-4B5C-9364-BFB7FFB81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53D8ED-3BA5-4007-9E97-699FA27DE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3F73CF-E93A-4BA6-B433-BAA7F3DC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51D857-0409-4026-95FE-27E09A24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A331FE-6450-44BC-880D-402D43C1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0944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1FEF6-D03E-4784-BC08-2A1F3D8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7068E4-B09A-4832-A735-FBD178C83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74F46-EEC4-4BE2-B061-C0952733A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7050E2-2323-49F7-A48A-87CBCD90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654085-3C4E-4F0D-A99D-B4D58848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8582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8D95E-D05E-4E8F-B8F4-594222F2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E0FAF8-0080-4FA8-B54F-C1C5BA7E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304BCC-720E-442C-9043-096F0A88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FAA63B-66EE-448C-AA26-905B6A9F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000630-76AF-49FD-8828-EB6E3CB8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53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F9F9A-99EB-4945-B808-86ECAE06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365BAD-9D65-40D5-A840-D24EAB977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D93220-CF8A-4EE0-A5F4-2F28401CE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56A77C-4C7D-4B6C-A513-835CF0F3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AB90E9-3FF6-4C32-A104-44662EB8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4E333C-10A8-4D4B-A419-71981E7D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8826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26C7C-7D27-4664-8BFC-E469E43E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5DF9B8-300F-47DB-BE32-5E8953F2B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62F77D-6EEC-45BD-90A0-329C21F71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B9A8F7-C874-4F27-A5C0-85B1FD7C0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52DEBE-BAE3-4AA1-88FC-64BB19635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856ECEA-B79E-4A09-9480-13EEDAF6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86B755-9844-4AD6-9D84-52DF7655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905DFB1-2B73-49FA-AAAB-9290A9F7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7082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51270-2DB9-4B3B-84A3-DCF1FC62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6B06AE-ECAD-4FFF-BF2F-3AAFCEAA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CD1DC6-E769-4B30-99A8-268A83E5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45A943-E0F8-4ACD-AA2B-3BF74C4F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64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A4EE2AE-3F0C-4DD3-8DB2-FCDC0E79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884CB91-55C6-4D6D-967A-48FAD4BF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F9DD8D-B13A-4ADA-944B-A4DB9424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133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66E27-9E9D-4FB1-BC71-BCEAAFD0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847CF9-3A9D-4C5F-8FAE-16C535538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6C8006-E629-4EEE-8ABD-CB6334D05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82A43B-77B9-47FB-BE80-0EA53E20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2B3084-51CC-4BED-B9F6-181D73A1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3FA0EE-34F3-43FB-858A-149213DA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7913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D0FBE-FCDD-48B8-AF6C-5B1700FC5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96B0D32-9E22-44D2-AD0D-220736C78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4D20F0-2163-4463-A62E-CC8C247CA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41B69D-E7BE-452D-A290-527243D2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67795E-E4EF-4626-B4D6-7A450FF2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60F2F8-BA0A-49D3-B6E4-DA96467E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238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4E302E-04AF-476F-BC0A-EF619583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58E7E3-12DC-4DAC-98E1-60F109751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F0E84C-FC81-47F0-B62D-93764A6E8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8B6F48-68E7-4265-8C02-D3F3B753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C6BFCB-25FE-4EA7-9C02-AEE1A74D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9652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88412C2-A347-4189-A303-E6DE5E9C9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41562A-5501-479C-81F4-D411EDB85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1A88EE-0B1D-47C6-A7E8-88BE16A7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10C5B8-5528-4498-88FE-4F0F2850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4A2FD7-9303-47E5-B272-674EDE3F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1025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95D885-D2B9-45EC-8B55-75E44F25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23EAC4-4842-41A0-8DBD-D8D439376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56CC1B-F2F9-402F-9478-202D42CC6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ECF5D-5406-4E93-863C-F56B137D42CF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B46030-2B72-420B-AB9A-90DAB5E73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263320-DDEE-4251-A739-C91BC3F13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BA5F0-2F63-4348-A2F2-C2E75AAD04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023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epresse.com/19245005/oesterreichs-hidden-champions-stille-architekten-unseres-wohlstands" TargetMode="External"/><Relationship Id="rId2" Type="http://schemas.openxmlformats.org/officeDocument/2006/relationships/hyperlink" Target="https://kurier.at/meinung/wohlstand-braucht-mehr-hidden-champions/51.175.44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ustriatourism.com/blog/2018/bulletin-texte-2018/augustseptember-2018/hidden-champions-in-cee/" TargetMode="External"/><Relationship Id="rId4" Type="http://schemas.openxmlformats.org/officeDocument/2006/relationships/hyperlink" Target="https://medianet.at/news/uploads/pdf/Medianet_Weltmeister_EN_web.pd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FC855-5852-4A57-BCCA-1BBBE38DF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Rätsel: Wertvollste Marken 2017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37CCBE-4B71-4AFA-8AB4-129801D683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627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6DB4B-AA8E-4EE7-88DE-BA4CCC49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2017 Wertvollste Marken (unsortiert)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5C9D76-67E1-4ED5-B125-F54E4D99DA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Red</a:t>
            </a:r>
            <a:r>
              <a:rPr lang="de-DE" dirty="0"/>
              <a:t> Bull</a:t>
            </a:r>
          </a:p>
          <a:p>
            <a:r>
              <a:rPr lang="de-DE" dirty="0"/>
              <a:t>Vienna Insurance Group</a:t>
            </a:r>
          </a:p>
          <a:p>
            <a:r>
              <a:rPr lang="de-DE" dirty="0" err="1"/>
              <a:t>Novomatic</a:t>
            </a:r>
            <a:endParaRPr lang="de-DE" dirty="0"/>
          </a:p>
          <a:p>
            <a:r>
              <a:rPr lang="de-DE" dirty="0"/>
              <a:t>XXXLutz</a:t>
            </a:r>
          </a:p>
          <a:p>
            <a:r>
              <a:rPr lang="de-DE" dirty="0"/>
              <a:t>OMV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6D5626-09EF-4D8E-92ED-1232401E20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ÖBB</a:t>
            </a:r>
          </a:p>
          <a:p>
            <a:r>
              <a:rPr lang="de-DE" dirty="0"/>
              <a:t>Raiffeisen</a:t>
            </a:r>
          </a:p>
          <a:p>
            <a:r>
              <a:rPr lang="de-DE" dirty="0"/>
              <a:t>Swarovski</a:t>
            </a:r>
          </a:p>
          <a:p>
            <a:r>
              <a:rPr lang="de-DE" dirty="0"/>
              <a:t>Erste Group</a:t>
            </a:r>
          </a:p>
          <a:p>
            <a:r>
              <a:rPr lang="de-DE" dirty="0"/>
              <a:t>Spar</a:t>
            </a:r>
          </a:p>
        </p:txBody>
      </p:sp>
    </p:spTree>
    <p:extLst>
      <p:ext uri="{BB962C8B-B14F-4D97-AF65-F5344CB8AC3E}">
        <p14:creationId xmlns:p14="http://schemas.microsoft.com/office/powerpoint/2010/main" val="182577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FEADD24-E54C-4699-9E92-98227D30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2017 Wertvollste Marken (sortiert)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FE7939A2-CDB5-4C0A-AB2C-B90C204756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11547"/>
          <a:ext cx="10515600" cy="424419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231555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51100088"/>
                    </a:ext>
                  </a:extLst>
                </a:gridCol>
              </a:tblGrid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 err="1">
                          <a:solidFill>
                            <a:schemeClr val="bg1"/>
                          </a:solidFill>
                          <a:effectLst/>
                        </a:rPr>
                        <a:t>Red</a:t>
                      </a: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 Bull – 15.247 Mio. 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>
                          <a:solidFill>
                            <a:schemeClr val="bg1"/>
                          </a:solidFill>
                          <a:effectLst/>
                        </a:rPr>
                        <a:t>Raiffeisen - 1.869 Mio. €</a:t>
                      </a:r>
                      <a:endParaRPr lang="de-DE" sz="2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7480622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Swarovski – 3.507 Mio. 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Erste Group - 1.654 Mio.€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5423581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 err="1">
                          <a:solidFill>
                            <a:schemeClr val="bg1"/>
                          </a:solidFill>
                          <a:effectLst/>
                        </a:rPr>
                        <a:t>Novomatic</a:t>
                      </a: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 – 3169 Mio. 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OMV - 1.175 Mio. 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2218494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>
                          <a:solidFill>
                            <a:schemeClr val="bg1"/>
                          </a:solidFill>
                          <a:effectLst/>
                        </a:rPr>
                        <a:t>Spar - 2263 Mio. €</a:t>
                      </a:r>
                      <a:endParaRPr lang="de-DE" sz="2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XXXLutz - 867 </a:t>
                      </a:r>
                      <a:r>
                        <a:rPr lang="de-AT" sz="2400" dirty="0" err="1">
                          <a:solidFill>
                            <a:schemeClr val="bg1"/>
                          </a:solidFill>
                          <a:effectLst/>
                        </a:rPr>
                        <a:t>Mio</a:t>
                      </a: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1043450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ÖBB - 1.889 Mio. 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AT" sz="2400" dirty="0">
                          <a:solidFill>
                            <a:schemeClr val="bg1"/>
                          </a:solidFill>
                          <a:effectLst/>
                        </a:rPr>
                        <a:t>Vienna Insurance Group - 791 Mio. €</a:t>
                      </a:r>
                      <a:endParaRPr lang="de-DE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6137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73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FEADD24-E54C-4699-9E92-98227D30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Umsatzstärkste U. anno 2022 unsortiert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FE7939A2-CDB5-4C0A-AB2C-B90C204756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11547"/>
          <a:ext cx="10515600" cy="48277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231555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51100088"/>
                    </a:ext>
                  </a:extLst>
                </a:gridCol>
              </a:tblGrid>
              <a:tr h="848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Spar Österreich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Strabag SE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7480622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Porsche Holding GmbH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Rewe International AG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5423581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Benteler International AG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Bull GmbH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2218494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Borealis AG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Verbund AG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1043450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OMV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Voestalpine AG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de-DE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6137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FEADD24-E54C-4699-9E92-98227D30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Umsatzstärkste U. anno 2022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FE7939A2-CDB5-4C0A-AB2C-B90C204756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11547"/>
          <a:ext cx="10515600" cy="424419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231555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51100088"/>
                    </a:ext>
                  </a:extLst>
                </a:gridCol>
              </a:tblGrid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OMV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Spar Österreich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7480622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Porsche Holding GmbH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Borealis AG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5423581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Voestalpine AG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Verbund AG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2218494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Strabag 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Bull GmbH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1043450"/>
                  </a:ext>
                </a:extLst>
              </a:tr>
              <a:tr h="848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Rewe International AG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24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Benteler International AG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6137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2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CB427-7208-49F6-A145-6434B17D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Umsatzstärkste Unternehmen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785640F-6390-4749-B918-9011631DF02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14877"/>
          <a:stretch/>
        </p:blipFill>
        <p:spPr bwMode="auto">
          <a:xfrm>
            <a:off x="838200" y="1603170"/>
            <a:ext cx="9754590" cy="51063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69637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2A8F60-E35E-4568-9610-C0A2C0E6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Hidden Champions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05DF07-7D62-49C4-8A90-CD774A9D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>
                <a:hlinkClick r:id="rId2"/>
              </a:rPr>
              <a:t>https://kurier.at/meinung/wohlstand-braucht-mehr-hidden-champions/51.175.443</a:t>
            </a:r>
            <a:endParaRPr lang="de-AT" dirty="0"/>
          </a:p>
          <a:p>
            <a:r>
              <a:rPr lang="de-AT" dirty="0">
                <a:hlinkClick r:id="rId3"/>
              </a:rPr>
              <a:t>https://www.diepresse.com/19245005/oesterreichs-hidden-champions-stille-architekten-unseres-wohlstands</a:t>
            </a:r>
            <a:endParaRPr lang="de-AT" dirty="0"/>
          </a:p>
          <a:p>
            <a:r>
              <a:rPr lang="de-AT" dirty="0">
                <a:hlinkClick r:id="rId4"/>
              </a:rPr>
              <a:t>https://medianet.at/news/uploads/pdf/Medianet_Weltmeister_EN_web.pdf</a:t>
            </a:r>
            <a:endParaRPr lang="de-AT" dirty="0"/>
          </a:p>
          <a:p>
            <a:endParaRPr lang="de-AT" dirty="0"/>
          </a:p>
          <a:p>
            <a:r>
              <a:rPr lang="de-AT" dirty="0">
                <a:hlinkClick r:id="rId5"/>
              </a:rPr>
              <a:t>https://www.austriatourism.com/blog/2018/bulletin-texte-2018/augustseptember-2018/hidden-champions-in-cee/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88403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91EB5-41D1-4774-864F-AD51886E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Hidden Champions?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B88B0C7-BE6D-43F5-97E6-A05B0C78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Hauptsitz?</a:t>
            </a:r>
          </a:p>
          <a:p>
            <a:r>
              <a:rPr lang="de-AT" dirty="0"/>
              <a:t>Branche?</a:t>
            </a:r>
          </a:p>
          <a:p>
            <a:r>
              <a:rPr lang="de-AT" dirty="0"/>
              <a:t>Umsatz?</a:t>
            </a:r>
          </a:p>
          <a:p>
            <a:r>
              <a:rPr lang="de-AT" dirty="0"/>
              <a:t>Angestellte?</a:t>
            </a:r>
          </a:p>
          <a:p>
            <a:endParaRPr lang="de-AT" dirty="0"/>
          </a:p>
          <a:p>
            <a:r>
              <a:rPr lang="de-AT" dirty="0"/>
              <a:t>Würden Sie das </a:t>
            </a:r>
            <a:br>
              <a:rPr lang="de-AT" dirty="0"/>
            </a:br>
            <a:r>
              <a:rPr lang="de-AT" dirty="0"/>
              <a:t>Unternehmen als </a:t>
            </a:r>
            <a:br>
              <a:rPr lang="de-AT" dirty="0"/>
            </a:br>
            <a:r>
              <a:rPr lang="de-AT" dirty="0"/>
              <a:t>Hidden Champion </a:t>
            </a:r>
            <a:br>
              <a:rPr lang="de-AT" dirty="0"/>
            </a:br>
            <a:r>
              <a:rPr lang="de-AT" dirty="0"/>
              <a:t>einstufen?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1D57798-5160-4EC9-A325-ED3A111C3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698" y="365125"/>
            <a:ext cx="609600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47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Breitbild</PresentationFormat>
  <Paragraphs>60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Rätsel: Wertvollste Marken 2017</vt:lpstr>
      <vt:lpstr>2017 Wertvollste Marken (unsortiert)</vt:lpstr>
      <vt:lpstr>2017 Wertvollste Marken (sortiert)</vt:lpstr>
      <vt:lpstr>Umsatzstärkste U. anno 2022 unsortiert</vt:lpstr>
      <vt:lpstr>Umsatzstärkste U. anno 2022</vt:lpstr>
      <vt:lpstr>Umsatzstärkste Unternehmen</vt:lpstr>
      <vt:lpstr>Hidden Champions</vt:lpstr>
      <vt:lpstr>Hidden Champions?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Rätsel: Wertvollste Marken 2017</dc:title>
  <dc:creator>EIGNER, Clara</dc:creator>
  <cp:lastModifiedBy>EIGNER, Clara</cp:lastModifiedBy>
  <cp:revision>1</cp:revision>
  <dcterms:created xsi:type="dcterms:W3CDTF">2026-01-26T08:47:17Z</dcterms:created>
  <dcterms:modified xsi:type="dcterms:W3CDTF">2026-01-26T08:47:29Z</dcterms:modified>
</cp:coreProperties>
</file>